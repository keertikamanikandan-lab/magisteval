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60" r:id="rId4"/>
    <p:sldId id="263" r:id="rId5"/>
    <p:sldId id="258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4CD7-6B5A-49D7-8CB0-F79D9159E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1961E-C0B1-445A-9F7C-4EEA2F886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252C-97F7-4592-900B-0DFB57E1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C3BF-3829-4186-AC82-1ADFAB13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B67D8-A57E-4F44-B4CB-DBDFE405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289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7286-1509-4CAE-BAAE-FF3AE2F72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E4B4-9C46-4936-B562-C8F183F33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3EA32-C8F5-490F-8581-11F13FC0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ED85D-11F9-4A66-BFBF-B419D674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46632-20B1-48FF-A42B-EFDB3D86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92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0C3E-4DF1-4232-8425-A10B2564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41F71-0AA5-4F81-9BF7-206FADFD0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901CB-F97A-491E-9171-8362B25E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3A10-8799-499D-9EBA-CB2B725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31485-7BD4-4817-BA61-C735B45E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69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DE54-C2E2-456B-9BE0-DE732FAB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9340-A9A6-4791-9E64-61CE80EA8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E0BE-6F83-4F8F-8BF0-2B4CB6C3D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E2E8E-03AD-49CE-9EC2-88E00090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A35AA-40B6-4D61-8B58-9D3AE074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1BEBD-F03B-4247-82BE-DAF0F450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471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A95-D8E4-48AD-B69E-29C5CD609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73BEB-6316-439D-A358-150CCD153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252CF-B25A-4F54-B5C0-A2066A90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85C30-9C77-4404-8AD6-C7932DCE7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28507-E8F1-4EEF-93F1-BDDEFCE0D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1849A-3EA7-4790-9475-F903FB4D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CDDCB-8F34-4690-ACD8-20277A6E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B915-E679-41CE-8F10-39B48F8C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9405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ED04B-5046-4D92-93F0-731B458A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87838-D9AF-417A-9B4C-79F312F11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CE097-EDF5-4011-A4D7-CD227FD1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A3BA7-6456-4A19-8EC4-746169B1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085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A46BF-4054-438F-B01F-20F5CADF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C9487-308B-4CCD-8B0C-599461ED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B15AC-B0E9-48E4-AFEA-8C3B3D72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534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8661-56D3-4F89-A091-9144FEE0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0B3F-2D08-4FC6-8420-CDDA51471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9C224-946F-4C84-9F19-24F7A9635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6EF3B-F7E0-4E71-96F2-4202459D3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4B28E-ABAC-4EE4-BC33-03B28270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B5F73-95D1-4F2C-99FF-C64F8218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119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1480-90FD-4EDA-A61A-384BE0FB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941672-20E0-47F4-97EB-F25466B5B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DD92-03CF-43AF-B6D0-FF8DD9EE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10847-FC25-413D-A80F-A00BE049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2E7EC-7039-4572-B017-692CECD0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AD70B-2DE1-4833-BF11-A8FBC97F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290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383F-A901-4226-88D9-CDC23FF2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EF267-8DB2-4146-9613-43F81673F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5FFE-F73A-46A2-9465-39C2747E8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7C5D3-EC7A-4358-82CB-FF9E7332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8D057-ADF8-48EC-B964-F78A2603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816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A7DA9-4E3A-4BAC-934A-20743DE90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C3405-E01C-4637-9EBD-4BDD1DB41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E12B6-A4CE-4722-8DFC-51944F8E9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5C493-BBE5-4058-84A8-0CCC9BD3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6B0B7-F450-43AE-B5DA-1F88E90E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292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48C9A-56CC-4C82-AF91-EFC4DA0D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7C519-BEBB-4590-8A2D-9D8346E57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23B97-7714-4108-A93C-CD08C7F49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75A98-7316-42E9-83DE-B54FE95323BE}" type="datetimeFigureOut">
              <a:rPr lang="en-ID" smtClean="0"/>
              <a:t>13/04/2026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F6556-C5A0-4DE4-BADB-8B8632553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DC9FB-A1D2-4CCD-B313-F37EAA300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324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8A67F8-29CF-4380-85B7-69B35576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286603"/>
            <a:ext cx="11753849" cy="1450757"/>
          </a:xfrm>
        </p:spPr>
        <p:txBody>
          <a:bodyPr/>
          <a:lstStyle/>
          <a:p>
            <a:pPr algn="ctr"/>
            <a:r>
              <a:rPr lang="en-US" b="1" dirty="0"/>
              <a:t>“Evaluation of </a:t>
            </a:r>
            <a:r>
              <a:rPr lang="en-US" b="1" dirty="0" err="1"/>
              <a:t>Magist</a:t>
            </a:r>
            <a:r>
              <a:rPr lang="en-US" b="1" dirty="0"/>
              <a:t> for ENIAC Partnership”</a:t>
            </a:r>
            <a:endParaRPr lang="en-ID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E77C06-5FD6-4003-8BA5-8588EB868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1" y="2246966"/>
            <a:ext cx="10515600" cy="4942728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Is </a:t>
            </a:r>
            <a:r>
              <a:rPr lang="en-US" sz="3200" dirty="0" err="1"/>
              <a:t>Magist</a:t>
            </a:r>
            <a:r>
              <a:rPr lang="en-US" sz="3200" dirty="0"/>
              <a:t> a suitable partner for </a:t>
            </a:r>
            <a:r>
              <a:rPr lang="en-US" sz="3200" dirty="0" err="1"/>
              <a:t>Eniac</a:t>
            </a:r>
            <a:r>
              <a:rPr lang="en-US" sz="3200" dirty="0"/>
              <a:t>?</a:t>
            </a:r>
          </a:p>
          <a:p>
            <a:r>
              <a:rPr lang="en-US" sz="3200" dirty="0"/>
              <a:t>Are orders delivered On-Time?</a:t>
            </a:r>
          </a:p>
          <a:p>
            <a:pPr marL="457200" lvl="1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u="sng" dirty="0"/>
              <a:t>Objective:</a:t>
            </a:r>
          </a:p>
          <a:p>
            <a:r>
              <a:rPr lang="en-US" sz="3200" dirty="0"/>
              <a:t>Product Performance Analysis</a:t>
            </a:r>
          </a:p>
          <a:p>
            <a:r>
              <a:rPr lang="en-US" sz="3200" dirty="0"/>
              <a:t>Seller Performance Analysis</a:t>
            </a:r>
          </a:p>
          <a:p>
            <a:r>
              <a:rPr lang="en-US" sz="3200" dirty="0"/>
              <a:t>Geographical Distribution Analysis</a:t>
            </a:r>
          </a:p>
          <a:p>
            <a:r>
              <a:rPr lang="en-US" sz="3200" dirty="0"/>
              <a:t>Delivery Performance Analysis</a:t>
            </a:r>
          </a:p>
          <a:p>
            <a:r>
              <a:rPr lang="en-US" sz="3200" dirty="0"/>
              <a:t>Customer Review Analysis                                                                                           </a:t>
            </a:r>
          </a:p>
          <a:p>
            <a:endParaRPr lang="en-US" sz="8000" dirty="0"/>
          </a:p>
          <a:p>
            <a:pPr marL="0" indent="0">
              <a:buNone/>
            </a:pPr>
            <a:r>
              <a:rPr lang="en-US" sz="8000" dirty="0"/>
              <a:t>                                                                                                                                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6288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0E0FB09-330C-4AA0-8C8D-35381156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Product Performance Analysis</a:t>
            </a:r>
            <a:endParaRPr lang="en-ID" b="1" u="sng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BCF0E9-7D4B-4497-88D7-56AA50E54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310977"/>
            <a:ext cx="5157787" cy="823912"/>
          </a:xfrm>
        </p:spPr>
        <p:txBody>
          <a:bodyPr/>
          <a:lstStyle/>
          <a:p>
            <a:r>
              <a:rPr lang="en-US" u="sng" dirty="0"/>
              <a:t>Product Sold</a:t>
            </a:r>
            <a:endParaRPr lang="en-ID" u="sng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3CD6396-807E-440E-AB38-57E1B996FF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1341" y="2366682"/>
            <a:ext cx="2850777" cy="4303059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63C7DA-871C-453E-8923-1C59BC670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84887" y="1310977"/>
            <a:ext cx="5183188" cy="823912"/>
          </a:xfrm>
        </p:spPr>
        <p:txBody>
          <a:bodyPr/>
          <a:lstStyle/>
          <a:p>
            <a:r>
              <a:rPr lang="en-US" u="sng" dirty="0"/>
              <a:t>Revenue</a:t>
            </a:r>
            <a:endParaRPr lang="en-ID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071A9B-F7DA-479B-9678-2C4073736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120" y="2597019"/>
            <a:ext cx="7252539" cy="407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8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D9EA34-F316-47F5-B63D-5B07ACB42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Seller Performance Analysis</a:t>
            </a:r>
            <a:endParaRPr lang="en-ID" b="1" u="sng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E9CAB7-B065-4DE4-86AA-9730EBB65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988" y="3307695"/>
            <a:ext cx="6233938" cy="3442728"/>
          </a:xfrm>
        </p:spPr>
        <p:txBody>
          <a:bodyPr/>
          <a:lstStyle/>
          <a:p>
            <a:r>
              <a:rPr lang="en-US" sz="2400" dirty="0"/>
              <a:t>Limited product variety </a:t>
            </a:r>
          </a:p>
          <a:p>
            <a:r>
              <a:rPr lang="en-US" sz="2400" dirty="0"/>
              <a:t>Higher dependency on few sellers –</a:t>
            </a:r>
          </a:p>
          <a:p>
            <a:pPr marL="0" indent="0">
              <a:buNone/>
            </a:pPr>
            <a:r>
              <a:rPr lang="en-US" sz="2400" dirty="0"/>
              <a:t>     supply risk.</a:t>
            </a:r>
          </a:p>
          <a:p>
            <a:r>
              <a:rPr lang="en-US" sz="2400" dirty="0"/>
              <a:t>Hard to grow business without strong seller base.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F65CD-754A-4847-9EC0-653051AF6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92" y="1810870"/>
            <a:ext cx="3939432" cy="49395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2A6378-F45B-4CCD-9198-D21A3D7E5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95" y="1397405"/>
            <a:ext cx="3193418" cy="6083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A6EA56-BB2D-4C8A-A5E5-CFB71187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227" y="1397405"/>
            <a:ext cx="4138181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1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BA4E-FBEE-4703-A192-E63D1E308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Geographical Distribution Analysis</a:t>
            </a:r>
            <a:endParaRPr lang="en-ID" b="1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E7133-25CA-4709-AA41-D2901B2D44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Business Performance varies across Brazilian states.</a:t>
            </a:r>
          </a:p>
          <a:p>
            <a:r>
              <a:rPr lang="en-US" sz="2400" dirty="0"/>
              <a:t>Sales are concentrated in a few key states within Brazil.</a:t>
            </a:r>
          </a:p>
          <a:p>
            <a:r>
              <a:rPr lang="en-US" sz="2400" dirty="0"/>
              <a:t>Geographic distribution is uneven.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endParaRPr lang="en-ID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665F94-16D3-487E-862C-ABF3880D7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74" y="1624542"/>
            <a:ext cx="4814465" cy="5157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FC3C37-3170-4971-91E0-E567B056E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993" y="5992228"/>
            <a:ext cx="1580407" cy="6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5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FD7A-E970-43E4-9BFC-81E9F879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Delivery Performance Analysis</a:t>
            </a:r>
            <a:endParaRPr lang="en-ID" b="1" u="sn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28A3D5-3EFE-43F3-945D-F36CA3F41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7694" y="2167871"/>
            <a:ext cx="5764306" cy="3984345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Majority of orders are delivered </a:t>
            </a:r>
            <a:r>
              <a:rPr lang="en-US" sz="2400" b="1" dirty="0" err="1"/>
              <a:t>On_Time</a:t>
            </a:r>
            <a:r>
              <a:rPr lang="en-US" sz="2400" b="1" dirty="0"/>
              <a:t> </a:t>
            </a:r>
            <a:r>
              <a:rPr lang="en-US" sz="2400" dirty="0"/>
              <a:t>.</a:t>
            </a:r>
          </a:p>
          <a:p>
            <a:r>
              <a:rPr lang="en-US" sz="2400" dirty="0"/>
              <a:t>The delay rate is relatively low.</a:t>
            </a:r>
          </a:p>
          <a:p>
            <a:r>
              <a:rPr lang="en-US" sz="2400" dirty="0"/>
              <a:t>Unknown delivery indicates missing or incomplete tracking data.</a:t>
            </a:r>
          </a:p>
          <a:p>
            <a:r>
              <a:rPr lang="en-US" sz="2400" dirty="0"/>
              <a:t>This indicates that </a:t>
            </a:r>
            <a:r>
              <a:rPr lang="en-US" sz="2400" dirty="0" err="1"/>
              <a:t>Magist</a:t>
            </a:r>
            <a:r>
              <a:rPr lang="en-US" sz="2400" dirty="0"/>
              <a:t> has reliable logistics and delivery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B57559FD-8AA2-4DE0-B849-B0BAD8B8DD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1012" y="2294966"/>
            <a:ext cx="5844988" cy="3352800"/>
          </a:xfrm>
        </p:spPr>
      </p:pic>
    </p:spTree>
    <p:extLst>
      <p:ext uri="{BB962C8B-B14F-4D97-AF65-F5344CB8AC3E}">
        <p14:creationId xmlns:p14="http://schemas.microsoft.com/office/powerpoint/2010/main" val="83371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4965-E7CD-415D-BD97-87F59731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Customer Review Analysis</a:t>
            </a:r>
            <a:endParaRPr lang="en-ID" b="1" u="sng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E2D80587-E3F1-4E06-BB39-779E88705A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612" y="1918448"/>
            <a:ext cx="11456894" cy="2913528"/>
          </a:xfrm>
        </p:spPr>
      </p:pic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85214B17-C5D0-479E-85AF-61B574AEC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88" y="5291324"/>
            <a:ext cx="11833412" cy="1566675"/>
          </a:xfrm>
        </p:spPr>
        <p:txBody>
          <a:bodyPr>
            <a:normAutofit/>
          </a:bodyPr>
          <a:lstStyle/>
          <a:p>
            <a:r>
              <a:rPr lang="en-US" sz="2400" dirty="0" err="1"/>
              <a:t>Non_tech</a:t>
            </a:r>
            <a:r>
              <a:rPr lang="en-US" sz="2400" dirty="0"/>
              <a:t> products get more reviews compared to tech products.</a:t>
            </a:r>
          </a:p>
          <a:p>
            <a:r>
              <a:rPr lang="en-US" sz="2400" dirty="0"/>
              <a:t>Tech products have fewer customer responses or feedback.</a:t>
            </a:r>
          </a:p>
          <a:p>
            <a:r>
              <a:rPr lang="en-ID" sz="2400" dirty="0"/>
              <a:t>Fewer purchases compared to </a:t>
            </a:r>
            <a:r>
              <a:rPr lang="en-ID" sz="2400" dirty="0" err="1"/>
              <a:t>non_tech</a:t>
            </a:r>
            <a:r>
              <a:rPr lang="en-ID" sz="2400" dirty="0"/>
              <a:t> products.</a:t>
            </a:r>
          </a:p>
        </p:txBody>
      </p:sp>
    </p:spTree>
    <p:extLst>
      <p:ext uri="{BB962C8B-B14F-4D97-AF65-F5344CB8AC3E}">
        <p14:creationId xmlns:p14="http://schemas.microsoft.com/office/powerpoint/2010/main" val="94670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E198EE-4FA0-4B4A-B0CE-0F90F87DB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Conclusion</a:t>
            </a:r>
            <a:endParaRPr lang="en-ID" b="1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AF8AA-C8D5-4770-BD4E-F788BD13F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Eventhough</a:t>
            </a:r>
            <a:r>
              <a:rPr lang="en-US" sz="2400" dirty="0"/>
              <a:t> delivery performance on </a:t>
            </a:r>
            <a:r>
              <a:rPr lang="en-US" sz="2400" dirty="0" err="1"/>
              <a:t>Magist</a:t>
            </a:r>
            <a:r>
              <a:rPr lang="en-US" sz="2400" dirty="0"/>
              <a:t> is reliable, tech products contribute only a small portion of Total revenue.</a:t>
            </a:r>
          </a:p>
          <a:p>
            <a:r>
              <a:rPr lang="en-US" sz="2400" dirty="0"/>
              <a:t>Limited market presence.</a:t>
            </a:r>
          </a:p>
          <a:p>
            <a:r>
              <a:rPr lang="en-US" sz="2400" dirty="0"/>
              <a:t>Indicates that </a:t>
            </a:r>
            <a:r>
              <a:rPr lang="en-US" sz="2400" dirty="0" err="1"/>
              <a:t>Magist</a:t>
            </a:r>
            <a:r>
              <a:rPr lang="en-US" sz="2400" dirty="0"/>
              <a:t> is not currently an Ideal platform for </a:t>
            </a:r>
            <a:r>
              <a:rPr lang="en-US" sz="2400" dirty="0" err="1"/>
              <a:t>Eniac’s</a:t>
            </a:r>
            <a:r>
              <a:rPr lang="en-US" sz="2400" dirty="0"/>
              <a:t> High-end </a:t>
            </a:r>
            <a:r>
              <a:rPr lang="en-US" sz="2400" dirty="0" err="1"/>
              <a:t>Tech_products</a:t>
            </a:r>
            <a:r>
              <a:rPr lang="en-US" sz="2400" dirty="0"/>
              <a:t>.</a:t>
            </a:r>
          </a:p>
          <a:p>
            <a:r>
              <a:rPr lang="en-US" sz="2400" dirty="0"/>
              <a:t>Therefore, we do not recommend a </a:t>
            </a:r>
            <a:r>
              <a:rPr lang="en-US" sz="2400" dirty="0" err="1"/>
              <a:t>full_scale</a:t>
            </a:r>
            <a:r>
              <a:rPr lang="en-US" sz="2400" dirty="0"/>
              <a:t> partnership.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42193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01FE3C-2BA6-44B9-82E1-0BCFE3BD9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82" y="665162"/>
            <a:ext cx="11286565" cy="3351026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Arial Black" panose="020B0A04020102020204" pitchFamily="34" charset="0"/>
              </a:rPr>
              <a:t>Thank you</a:t>
            </a:r>
            <a:endParaRPr lang="en-ID" sz="72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165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</TotalTime>
  <Words>223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“Evaluation of Magist for ENIAC Partnership”</vt:lpstr>
      <vt:lpstr>Product Performance Analysis</vt:lpstr>
      <vt:lpstr>Seller Performance Analysis</vt:lpstr>
      <vt:lpstr>Geographical Distribution Analysis</vt:lpstr>
      <vt:lpstr>Delivery Performance Analysis</vt:lpstr>
      <vt:lpstr>Customer Review Analysis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manikandan Mohanakrishnan</dc:creator>
  <cp:lastModifiedBy>manikandan Mohanakrishnan</cp:lastModifiedBy>
  <cp:revision>47</cp:revision>
  <dcterms:created xsi:type="dcterms:W3CDTF">2026-04-10T18:08:58Z</dcterms:created>
  <dcterms:modified xsi:type="dcterms:W3CDTF">2026-04-13T15:41:11Z</dcterms:modified>
</cp:coreProperties>
</file>